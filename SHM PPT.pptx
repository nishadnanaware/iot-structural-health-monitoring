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Montserrat Black"/>
      <p:bold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E537C2-09FC-49DC-98E7-18976AF3A11F}">
  <a:tblStyle styleId="{D9E537C2-09FC-49DC-98E7-18976AF3A1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.fntdata"/><Relationship Id="rId20" Type="http://schemas.openxmlformats.org/officeDocument/2006/relationships/slide" Target="slides/slide14.xml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MontserratBlack-bold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Black-bold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bold.fntdata"/><Relationship Id="rId17" Type="http://schemas.openxmlformats.org/officeDocument/2006/relationships/slide" Target="slides/slide11.xml"/><Relationship Id="rId39" Type="http://schemas.openxmlformats.org/officeDocument/2006/relationships/font" Target="fonts/MontserratMedium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f4a735d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f4a735d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0122d4a79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0122d4a79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f4a735d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f4a735d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60122d4a79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60122d4a79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0122d4a79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60122d4a79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f4a735d3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f4a735d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f4a735d3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f4a735d3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f4a735d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f4a735d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f4a735d3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f4a735d3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0122d4a79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60122d4a79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209b4c19fd86d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209b4c19fd86d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f4a735d3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f4a735d3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a09c95a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3a09c95a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0122d4a79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0122d4a79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3a09c95a7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3a09c95a7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3a09c95a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3a09c95a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0122d4a79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0122d4a79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8eff6a104246a3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8eff6a104246a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3a09c95a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3a09c95a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f4a735d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5f4a735d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f4a735d3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f4a735d3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16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6.jpg"/><Relationship Id="rId6" Type="http://schemas.openxmlformats.org/officeDocument/2006/relationships/image" Target="../media/image10.jpg"/><Relationship Id="rId7" Type="http://schemas.openxmlformats.org/officeDocument/2006/relationships/image" Target="../media/image9.jpg"/><Relationship Id="rId8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188250"/>
            <a:ext cx="91440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latin typeface="Montserrat Black"/>
                <a:ea typeface="Montserrat Black"/>
                <a:cs typeface="Montserrat Black"/>
                <a:sym typeface="Montserrat Black"/>
              </a:rPr>
              <a:t>IOT BASED ACCELEROMETER </a:t>
            </a:r>
            <a:endParaRPr sz="2600" u="sng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u="sng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1257575"/>
            <a:ext cx="9144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Presented by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Paras Sutar - 211060908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Ritik Mattami - 201060049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Yadnesh Dande - 211060903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Vishal Dhangar - 201060027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713" y="2777550"/>
            <a:ext cx="6728571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878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20" u="sng">
                <a:latin typeface="Montserrat"/>
                <a:ea typeface="Montserrat"/>
                <a:cs typeface="Montserrat"/>
                <a:sym typeface="Montserrat"/>
              </a:rPr>
              <a:t>Table of content</a:t>
            </a:r>
            <a:endParaRPr b="1" sz="3220" u="sng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2226025" y="1293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{D9E537C2-09FC-49DC-98E7-18976AF3A11F}</a:tableStyleId>
              </a:tblPr>
              <a:tblGrid>
                <a:gridCol w="965800"/>
                <a:gridCol w="372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Problem statement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Softwares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Operation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Actual </a:t>
                      </a:r>
                      <a:r>
                        <a:rPr b="1"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Applications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5620"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b="1" sz="56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088" y="2666294"/>
            <a:ext cx="2723374" cy="22566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4">
            <a:alphaModFix/>
          </a:blip>
          <a:srcRect b="0" l="11571" r="13431" t="0"/>
          <a:stretch/>
        </p:blipFill>
        <p:spPr>
          <a:xfrm>
            <a:off x="1355563" y="220556"/>
            <a:ext cx="3008899" cy="22566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1813" y="220556"/>
            <a:ext cx="3226624" cy="22566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1813" y="2666283"/>
            <a:ext cx="3008901" cy="22566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63" y="762000"/>
            <a:ext cx="68675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0" l="31853" r="29008" t="0"/>
          <a:stretch/>
        </p:blipFill>
        <p:spPr>
          <a:xfrm>
            <a:off x="7172100" y="1308513"/>
            <a:ext cx="1481326" cy="25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620">
                <a:latin typeface="Montserrat"/>
                <a:ea typeface="Montserrat"/>
                <a:cs typeface="Montserrat"/>
                <a:sym typeface="Montserrat"/>
              </a:rPr>
              <a:t>Components</a:t>
            </a:r>
            <a:endParaRPr b="1" sz="56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230" y="957125"/>
            <a:ext cx="2985575" cy="29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350550"/>
            <a:ext cx="85206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ATmega328P Microcontroller is from 8-bit AVR family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Operating voltage is 5V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Input voltage (Vin) is 7V to 12V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Input/Output Pins are 22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Analog i/p pins are 6 from A0 to A5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Digital pins are 14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Power consumption is 19 mA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625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625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625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625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625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2071200" y="236600"/>
            <a:ext cx="50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Arduino Nano</a:t>
            </a:r>
            <a:endParaRPr sz="2400" u="sng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125" y="1263175"/>
            <a:ext cx="3057701" cy="26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790625"/>
            <a:ext cx="8520600" cy="4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3-axis sensing with a full-scale range of ±2g, ±4g, ±8g, or ±16g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Sensitivity of 16384, 8192, 4096, or 2048 LSBs per g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ODR range of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8 kHz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1.25Hz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Temperature Sensor: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Operating range of -40°C to +85°C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Sensitivity of 340 LSBs per degree Celsius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Accuracy of ±3°C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2114100" y="401175"/>
            <a:ext cx="491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MPU6050 (vibration sensor)</a:t>
            </a:r>
            <a:endParaRPr sz="1800" u="sng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1638" y="128078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445363"/>
            <a:ext cx="8520600" cy="4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Operating Voltage: 4V to 6V (Typically +5V)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Operating Current: 30mA.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Range: &lt;100m.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Works with Serial communication (USART) and TTL compatible.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Follows IEEE 802.15.1 standardized protocol.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2237550" y="329175"/>
            <a:ext cx="466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HC05 (Bluetooth Module)</a:t>
            </a:r>
            <a:endParaRPr b="1" sz="24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3831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202122"/>
                </a:solidFill>
                <a:latin typeface="Montserrat"/>
                <a:ea typeface="Montserrat"/>
                <a:cs typeface="Montserrat"/>
                <a:sym typeface="Montserrat"/>
              </a:rPr>
              <a:t>Softwares used</a:t>
            </a:r>
            <a:endParaRPr b="1" u="sng">
              <a:solidFill>
                <a:srgbClr val="2021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4410738" y="35937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Vibrosense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1733250" y="35937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Arduino IDE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16810" l="31634" r="30976" t="14630"/>
          <a:stretch/>
        </p:blipFill>
        <p:spPr>
          <a:xfrm>
            <a:off x="2389713" y="1745350"/>
            <a:ext cx="1687076" cy="170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6500" y="1406850"/>
            <a:ext cx="1988475" cy="19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620">
                <a:latin typeface="Montserrat"/>
                <a:ea typeface="Montserrat"/>
                <a:cs typeface="Montserrat"/>
                <a:sym typeface="Montserrat"/>
              </a:rPr>
              <a:t>Actual Model</a:t>
            </a:r>
            <a:endParaRPr b="1" sz="56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173989" y="227857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Circuit Diagram</a:t>
            </a:r>
            <a:r>
              <a:rPr lang="en"/>
              <a:t> </a:t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975" y="1065334"/>
            <a:ext cx="4738039" cy="40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96" y="2901000"/>
            <a:ext cx="2818570" cy="158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 rotWithShape="1">
          <a:blip r:embed="rId4">
            <a:alphaModFix/>
          </a:blip>
          <a:srcRect b="27466" l="0" r="9305" t="27239"/>
          <a:stretch/>
        </p:blipFill>
        <p:spPr>
          <a:xfrm>
            <a:off x="5493353" y="659399"/>
            <a:ext cx="2108950" cy="190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 rotWithShape="1">
          <a:blip r:embed="rId5">
            <a:alphaModFix/>
          </a:blip>
          <a:srcRect b="3642" l="21180" r="29147" t="0"/>
          <a:stretch/>
        </p:blipFill>
        <p:spPr>
          <a:xfrm>
            <a:off x="3517540" y="657050"/>
            <a:ext cx="1783626" cy="194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 rotWithShape="1">
          <a:blip r:embed="rId6">
            <a:alphaModFix/>
          </a:blip>
          <a:srcRect b="5166" l="12965" r="18761" t="19196"/>
          <a:stretch/>
        </p:blipFill>
        <p:spPr>
          <a:xfrm>
            <a:off x="3255740" y="2900975"/>
            <a:ext cx="2544125" cy="158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 rotWithShape="1">
          <a:blip r:embed="rId7">
            <a:alphaModFix/>
          </a:blip>
          <a:srcRect b="22695" l="0" r="0" t="15780"/>
          <a:stretch/>
        </p:blipFill>
        <p:spPr>
          <a:xfrm>
            <a:off x="1541703" y="659400"/>
            <a:ext cx="1783649" cy="194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 rotWithShape="1">
          <a:blip r:embed="rId8">
            <a:alphaModFix/>
          </a:blip>
          <a:srcRect b="32981" l="26544" r="11665" t="7105"/>
          <a:stretch/>
        </p:blipFill>
        <p:spPr>
          <a:xfrm>
            <a:off x="5938628" y="2901000"/>
            <a:ext cx="2906976" cy="158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/>
          </a:blip>
          <a:srcRect b="0" l="7546" r="15530" t="0"/>
          <a:stretch/>
        </p:blipFill>
        <p:spPr>
          <a:xfrm>
            <a:off x="1055263" y="0"/>
            <a:ext cx="70334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620">
                <a:latin typeface="Montserrat"/>
                <a:ea typeface="Montserrat"/>
                <a:cs typeface="Montserrat"/>
                <a:sym typeface="Montserrat"/>
              </a:rPr>
              <a:t>Operation</a:t>
            </a:r>
            <a:endParaRPr b="1" sz="56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4155713" y="1410263"/>
            <a:ext cx="2389200" cy="13827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696463" y="975188"/>
            <a:ext cx="7575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</a:t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2109388" y="1554038"/>
            <a:ext cx="2831675" cy="2765025"/>
          </a:xfrm>
          <a:custGeom>
            <a:rect b="b" l="l" r="r" t="t"/>
            <a:pathLst>
              <a:path extrusionOk="0" h="110601" w="113267">
                <a:moveTo>
                  <a:pt x="0" y="0"/>
                </a:moveTo>
                <a:cubicBezTo>
                  <a:pt x="7052" y="17633"/>
                  <a:pt x="1923" y="38130"/>
                  <a:pt x="6194" y="56634"/>
                </a:cubicBezTo>
                <a:cubicBezTo>
                  <a:pt x="10830" y="76722"/>
                  <a:pt x="21440" y="100618"/>
                  <a:pt x="40705" y="107958"/>
                </a:cubicBezTo>
                <a:cubicBezTo>
                  <a:pt x="58053" y="114567"/>
                  <a:pt x="82306" y="108078"/>
                  <a:pt x="94684" y="94242"/>
                </a:cubicBezTo>
                <a:cubicBezTo>
                  <a:pt x="109623" y="77543"/>
                  <a:pt x="113267" y="52051"/>
                  <a:pt x="113267" y="29645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" name="Google Shape;155;p28"/>
          <p:cNvSpPr/>
          <p:nvPr/>
        </p:nvSpPr>
        <p:spPr>
          <a:xfrm>
            <a:off x="4885763" y="2228788"/>
            <a:ext cx="143700" cy="13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5325738" y="2228788"/>
            <a:ext cx="143700" cy="13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7407738" y="1587238"/>
            <a:ext cx="1039800" cy="51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 O/P</a:t>
            </a: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5371893" y="2107138"/>
            <a:ext cx="2445125" cy="2239825"/>
          </a:xfrm>
          <a:custGeom>
            <a:rect b="b" l="l" r="r" t="t"/>
            <a:pathLst>
              <a:path extrusionOk="0" h="89593" w="97805">
                <a:moveTo>
                  <a:pt x="908" y="8849"/>
                </a:moveTo>
                <a:cubicBezTo>
                  <a:pt x="-4064" y="38648"/>
                  <a:pt x="12419" y="86557"/>
                  <a:pt x="42498" y="89376"/>
                </a:cubicBezTo>
                <a:cubicBezTo>
                  <a:pt x="61059" y="91116"/>
                  <a:pt x="83254" y="78138"/>
                  <a:pt x="90725" y="61059"/>
                </a:cubicBezTo>
                <a:cubicBezTo>
                  <a:pt x="94671" y="52039"/>
                  <a:pt x="94259" y="41662"/>
                  <a:pt x="95150" y="31857"/>
                </a:cubicBezTo>
                <a:cubicBezTo>
                  <a:pt x="96115" y="21245"/>
                  <a:pt x="97805" y="10656"/>
                  <a:pt x="97805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" name="Google Shape;159;p28"/>
          <p:cNvSpPr/>
          <p:nvPr/>
        </p:nvSpPr>
        <p:spPr>
          <a:xfrm>
            <a:off x="1711163" y="796538"/>
            <a:ext cx="757500" cy="7575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9"/>
          <p:cNvPicPr preferRelativeResize="0"/>
          <p:nvPr/>
        </p:nvPicPr>
        <p:blipFill rotWithShape="1">
          <a:blip r:embed="rId3">
            <a:alphaModFix/>
          </a:blip>
          <a:srcRect b="0" l="0" r="33052" t="0"/>
          <a:stretch/>
        </p:blipFill>
        <p:spPr>
          <a:xfrm>
            <a:off x="0" y="618325"/>
            <a:ext cx="4883152" cy="390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9"/>
          <p:cNvPicPr preferRelativeResize="0"/>
          <p:nvPr/>
        </p:nvPicPr>
        <p:blipFill rotWithShape="1">
          <a:blip r:embed="rId4">
            <a:alphaModFix/>
          </a:blip>
          <a:srcRect b="36061" l="0" r="42974" t="0"/>
          <a:stretch/>
        </p:blipFill>
        <p:spPr>
          <a:xfrm>
            <a:off x="4883150" y="1071763"/>
            <a:ext cx="4260852" cy="299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620">
                <a:latin typeface="Montserrat"/>
                <a:ea typeface="Montserrat"/>
                <a:cs typeface="Montserrat"/>
                <a:sym typeface="Montserrat"/>
              </a:rPr>
              <a:t>Features of our Model</a:t>
            </a:r>
            <a:endParaRPr b="1" sz="56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ctrTitle"/>
          </p:nvPr>
        </p:nvSpPr>
        <p:spPr>
          <a:xfrm>
            <a:off x="311700" y="217133"/>
            <a:ext cx="8520600" cy="10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Features of our Model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1"/>
          <p:cNvSpPr txBox="1"/>
          <p:nvPr/>
        </p:nvSpPr>
        <p:spPr>
          <a:xfrm>
            <a:off x="914395" y="1371161"/>
            <a:ext cx="7315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Compact Size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Easy portable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Tri-Axial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High data rate, so more accuracy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User friendly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Easy connections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Wireless transmission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620">
                <a:latin typeface="Montserrat"/>
                <a:ea typeface="Montserrat"/>
                <a:cs typeface="Montserrat"/>
                <a:sym typeface="Montserrat"/>
              </a:rPr>
              <a:t>Applications</a:t>
            </a:r>
            <a:endParaRPr b="1" sz="56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AutoNum type="arabicPeriod"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Structural health monitoring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AutoNum type="arabicPeriod"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Environmental monitoring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AutoNum type="arabicPeriod"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Mining Areas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AutoNum type="arabicPeriod"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Engine Performance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AutoNum type="arabicPeriod"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Industrial machinery monitoring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74" y="95925"/>
            <a:ext cx="8514424" cy="57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